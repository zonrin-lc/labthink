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5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宋 雪贤" initials="宋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我们服务于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1000+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制药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企业。</a:t>
            </a:r>
            <a:endParaRPr lang="zh-CN" altLang="en-US">
              <a:solidFill>
                <a:srgbClr val="000000"/>
              </a:solidFill>
              <a:sym typeface="+mn-ea"/>
            </a:endParaRPr>
          </a:p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sym typeface="+mn-ea"/>
              </a:rPr>
              <a:t>重量分析产品已在众多头部药企与权威机构完成实际检测验证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41AD82-60BD-48B8-B293-CB322BD747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 txBox="1">
            <a:spLocks noGrp="1"/>
          </p:cNvSpPr>
          <p:nvPr>
            <p:ph type="title"/>
          </p:nvPr>
        </p:nvSpPr>
        <p:spPr>
          <a:xfrm>
            <a:off x="345440" y="259715"/>
            <a:ext cx="11403330" cy="46101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442914" y="720752"/>
            <a:ext cx="11306174" cy="0"/>
          </a:xfrm>
          <a:prstGeom prst="line">
            <a:avLst/>
          </a:prstGeom>
          <a:ln w="15875">
            <a:solidFill>
              <a:srgbClr val="FFC2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4" Type="http://schemas.openxmlformats.org/officeDocument/2006/relationships/notesSlide" Target="../notesSlides/notesSlide1.xml"/><Relationship Id="rId53" Type="http://schemas.openxmlformats.org/officeDocument/2006/relationships/slideLayout" Target="../slideLayouts/slideLayout12.xml"/><Relationship Id="rId52" Type="http://schemas.openxmlformats.org/officeDocument/2006/relationships/tags" Target="../tags/tag63.xml"/><Relationship Id="rId51" Type="http://schemas.openxmlformats.org/officeDocument/2006/relationships/image" Target="../media/image51.png"/><Relationship Id="rId50" Type="http://schemas.openxmlformats.org/officeDocument/2006/relationships/image" Target="../media/image50.jpe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jpe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jpe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jpe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sv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jpe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pn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/>
              <a:t>医药行业服务客户</a:t>
            </a:r>
            <a:r>
              <a:rPr lang="en-US" altLang="zh-CN"/>
              <a:t>——1000</a:t>
            </a:r>
            <a:r>
              <a:rPr lang="zh-CN" altLang="en-US"/>
              <a:t>+制药企业的共同选择</a:t>
            </a:r>
            <a:endParaRPr lang="zh-CN" altLang="en-US"/>
          </a:p>
        </p:txBody>
      </p:sp>
      <p:sp>
        <p:nvSpPr>
          <p:cNvPr id="7" name="矩形: 剪去左右顶角 6"/>
          <p:cNvSpPr/>
          <p:nvPr/>
        </p:nvSpPr>
        <p:spPr>
          <a:xfrm>
            <a:off x="470535" y="1027430"/>
            <a:ext cx="11278870" cy="4975225"/>
          </a:xfrm>
          <a:prstGeom prst="snip2SameRect">
            <a:avLst>
              <a:gd name="adj1" fmla="val 4704"/>
              <a:gd name="adj2" fmla="val 0"/>
            </a:avLst>
          </a:prstGeom>
          <a:gradFill>
            <a:gsLst>
              <a:gs pos="54000">
                <a:srgbClr val="FCC800">
                  <a:alpha val="12000"/>
                </a:srgbClr>
              </a:gs>
              <a:gs pos="100000">
                <a:srgbClr val="FCC800">
                  <a:alpha val="0"/>
                </a:srgbClr>
              </a:gs>
            </a:gsLst>
            <a:lin ang="5400000" scaled="1"/>
          </a:gradFill>
          <a:ln w="12700">
            <a:gradFill>
              <a:gsLst>
                <a:gs pos="100000">
                  <a:srgbClr val="FCC800">
                    <a:alpha val="0"/>
                  </a:srgbClr>
                </a:gs>
                <a:gs pos="0">
                  <a:srgbClr val="FF9E3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sp>
        <p:nvSpPr>
          <p:cNvPr id="11" name="梯形 10"/>
          <p:cNvSpPr/>
          <p:nvPr/>
        </p:nvSpPr>
        <p:spPr>
          <a:xfrm>
            <a:off x="695324" y="5752616"/>
            <a:ext cx="10801349" cy="688966"/>
          </a:xfrm>
          <a:prstGeom prst="trapezoid">
            <a:avLst>
              <a:gd name="adj" fmla="val 138762"/>
            </a:avLst>
          </a:prstGeom>
          <a:gradFill>
            <a:gsLst>
              <a:gs pos="19000">
                <a:srgbClr val="FCC800">
                  <a:alpha val="5000"/>
                </a:srgbClr>
              </a:gs>
              <a:gs pos="100000">
                <a:srgbClr val="FCC800">
                  <a:alpha val="0"/>
                </a:srgbClr>
              </a:gs>
            </a:gsLst>
            <a:lin ang="5400000" scaled="1"/>
          </a:gradFill>
          <a:ln w="12700">
            <a:gradFill>
              <a:gsLst>
                <a:gs pos="37000">
                  <a:schemeClr val="accent1">
                    <a:alpha val="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sp>
        <p:nvSpPr>
          <p:cNvPr id="13" name="梯形 12"/>
          <p:cNvSpPr/>
          <p:nvPr/>
        </p:nvSpPr>
        <p:spPr>
          <a:xfrm>
            <a:off x="1176906" y="5584372"/>
            <a:ext cx="9838189" cy="627531"/>
          </a:xfrm>
          <a:prstGeom prst="trapezoid">
            <a:avLst>
              <a:gd name="adj" fmla="val 138806"/>
            </a:avLst>
          </a:prstGeom>
          <a:gradFill>
            <a:gsLst>
              <a:gs pos="19000">
                <a:srgbClr val="FCC800">
                  <a:alpha val="5000"/>
                </a:srgbClr>
              </a:gs>
              <a:gs pos="100000">
                <a:srgbClr val="FCC800">
                  <a:alpha val="0"/>
                </a:srgbClr>
              </a:gs>
            </a:gsLst>
            <a:lin ang="5400000" scaled="1"/>
          </a:gradFill>
          <a:ln w="12700">
            <a:gradFill>
              <a:gsLst>
                <a:gs pos="37000">
                  <a:schemeClr val="accent1">
                    <a:alpha val="0"/>
                  </a:schemeClr>
                </a:gs>
                <a:gs pos="100000">
                  <a:schemeClr val="accent2">
                    <a:alpha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88863" y="4362958"/>
            <a:ext cx="359322" cy="2457223"/>
            <a:chOff x="682399" y="4362958"/>
            <a:chExt cx="468505" cy="2457223"/>
          </a:xfrm>
        </p:grpSpPr>
        <p:sp>
          <p:nvSpPr>
            <p:cNvPr id="31" name="矩形: 剪去单角 30"/>
            <p:cNvSpPr/>
            <p:nvPr/>
          </p:nvSpPr>
          <p:spPr>
            <a:xfrm>
              <a:off x="682399" y="5121595"/>
              <a:ext cx="224697" cy="169858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20000">
                  <a:schemeClr val="accent1">
                    <a:alpha val="20000"/>
                  </a:schemeClr>
                </a:gs>
                <a:gs pos="78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矩形: 剪去单角 31"/>
            <p:cNvSpPr/>
            <p:nvPr/>
          </p:nvSpPr>
          <p:spPr>
            <a:xfrm>
              <a:off x="841769" y="4362958"/>
              <a:ext cx="309135" cy="2175993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20000">
                  <a:srgbClr val="FCC800"/>
                </a:gs>
                <a:gs pos="89000">
                  <a:srgbClr val="FCC800">
                    <a:alpha val="0"/>
                    <a:lumMod val="60000"/>
                    <a:lumOff val="4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11143816" y="4362958"/>
            <a:ext cx="359322" cy="2457223"/>
            <a:chOff x="682399" y="4362958"/>
            <a:chExt cx="468505" cy="2457223"/>
          </a:xfrm>
        </p:grpSpPr>
        <p:sp>
          <p:nvSpPr>
            <p:cNvPr id="29" name="矩形: 剪去单角 28"/>
            <p:cNvSpPr/>
            <p:nvPr/>
          </p:nvSpPr>
          <p:spPr>
            <a:xfrm>
              <a:off x="682399" y="5121595"/>
              <a:ext cx="224697" cy="1698586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20000">
                  <a:schemeClr val="accent1">
                    <a:alpha val="20000"/>
                  </a:schemeClr>
                </a:gs>
                <a:gs pos="78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矩形: 剪去单角 29"/>
            <p:cNvSpPr/>
            <p:nvPr/>
          </p:nvSpPr>
          <p:spPr>
            <a:xfrm>
              <a:off x="841769" y="4362958"/>
              <a:ext cx="309135" cy="2175993"/>
            </a:xfrm>
            <a:prstGeom prst="snip1Rect">
              <a:avLst>
                <a:gd name="adj" fmla="val 50000"/>
              </a:avLst>
            </a:prstGeom>
            <a:gradFill flip="none" rotWithShape="1">
              <a:gsLst>
                <a:gs pos="20000">
                  <a:srgbClr val="FCC800"/>
                </a:gs>
                <a:gs pos="89000">
                  <a:srgbClr val="FCC800">
                    <a:alpha val="0"/>
                    <a:lumMod val="60000"/>
                    <a:lumOff val="40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413762" y="1158403"/>
            <a:ext cx="1364476" cy="338554"/>
            <a:chOff x="5413762" y="1158403"/>
            <a:chExt cx="1364476" cy="338554"/>
          </a:xfrm>
        </p:grpSpPr>
        <p:sp>
          <p:nvSpPr>
            <p:cNvPr id="22" name="六边形 21"/>
            <p:cNvSpPr/>
            <p:nvPr/>
          </p:nvSpPr>
          <p:spPr>
            <a:xfrm>
              <a:off x="5475323" y="1163483"/>
              <a:ext cx="1241354" cy="325782"/>
            </a:xfrm>
            <a:prstGeom prst="hexagon">
              <a:avLst/>
            </a:prstGeom>
            <a:gradFill flip="none" rotWithShape="1">
              <a:gsLst>
                <a:gs pos="0">
                  <a:srgbClr val="FCC800"/>
                </a:gs>
                <a:gs pos="97000">
                  <a:srgbClr val="FF9E3F"/>
                </a:gs>
              </a:gsLst>
              <a:lin ang="2700000"/>
            </a:gradFill>
            <a:ln w="0">
              <a:noFill/>
            </a:ln>
            <a:effectLst>
              <a:outerShdw blurRad="254000" dist="889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 Sans"/>
                <a:ea typeface="OPPO Sans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13762" y="1158403"/>
              <a:ext cx="13644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典型客户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519" name="矩形: 剪去对角 1518"/>
          <p:cNvSpPr/>
          <p:nvPr/>
        </p:nvSpPr>
        <p:spPr>
          <a:xfrm>
            <a:off x="1176655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1534" name="矩形: 剪去对角 1533"/>
          <p:cNvSpPr/>
          <p:nvPr/>
        </p:nvSpPr>
        <p:spPr>
          <a:xfrm>
            <a:off x="1176655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1535" name="矩形: 剪去对角 1534"/>
          <p:cNvSpPr/>
          <p:nvPr/>
        </p:nvSpPr>
        <p:spPr>
          <a:xfrm>
            <a:off x="1176655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1152" name="矩形: 剪去对角 1151"/>
          <p:cNvSpPr/>
          <p:nvPr/>
        </p:nvSpPr>
        <p:spPr>
          <a:xfrm>
            <a:off x="1176655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37" name="矩形: 剪去对角 1151"/>
          <p:cNvSpPr/>
          <p:nvPr/>
        </p:nvSpPr>
        <p:spPr>
          <a:xfrm>
            <a:off x="1176655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40" name="矩形: 剪去对角 1151"/>
          <p:cNvSpPr/>
          <p:nvPr/>
        </p:nvSpPr>
        <p:spPr>
          <a:xfrm>
            <a:off x="1176655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: 剪去对角 1151"/>
          <p:cNvSpPr/>
          <p:nvPr/>
        </p:nvSpPr>
        <p:spPr>
          <a:xfrm>
            <a:off x="1176655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: 剪去对角 1518"/>
          <p:cNvSpPr/>
          <p:nvPr/>
        </p:nvSpPr>
        <p:spPr>
          <a:xfrm>
            <a:off x="2609850" y="192722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矩形: 剪去对角 1533"/>
          <p:cNvSpPr/>
          <p:nvPr/>
        </p:nvSpPr>
        <p:spPr>
          <a:xfrm>
            <a:off x="2609850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矩形: 剪去对角 1534"/>
          <p:cNvSpPr/>
          <p:nvPr/>
        </p:nvSpPr>
        <p:spPr>
          <a:xfrm>
            <a:off x="2609850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矩形: 剪去对角 1151"/>
          <p:cNvSpPr/>
          <p:nvPr/>
        </p:nvSpPr>
        <p:spPr>
          <a:xfrm>
            <a:off x="2609850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矩形: 剪去对角 1151"/>
          <p:cNvSpPr/>
          <p:nvPr/>
        </p:nvSpPr>
        <p:spPr>
          <a:xfrm>
            <a:off x="2609850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69" name="矩形: 剪去对角 1151"/>
          <p:cNvSpPr/>
          <p:nvPr/>
        </p:nvSpPr>
        <p:spPr>
          <a:xfrm>
            <a:off x="2609850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矩形: 剪去对角 1151"/>
          <p:cNvSpPr/>
          <p:nvPr/>
        </p:nvSpPr>
        <p:spPr>
          <a:xfrm>
            <a:off x="2609850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矩形: 剪去对角 1518"/>
          <p:cNvSpPr/>
          <p:nvPr/>
        </p:nvSpPr>
        <p:spPr>
          <a:xfrm>
            <a:off x="4046855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矩形: 剪去对角 1533"/>
          <p:cNvSpPr/>
          <p:nvPr/>
        </p:nvSpPr>
        <p:spPr>
          <a:xfrm>
            <a:off x="4043045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矩形: 剪去对角 1534"/>
          <p:cNvSpPr/>
          <p:nvPr/>
        </p:nvSpPr>
        <p:spPr>
          <a:xfrm>
            <a:off x="4043045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矩形: 剪去对角 1151"/>
          <p:cNvSpPr/>
          <p:nvPr/>
        </p:nvSpPr>
        <p:spPr>
          <a:xfrm>
            <a:off x="4043045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矩形: 剪去对角 1151"/>
          <p:cNvSpPr/>
          <p:nvPr/>
        </p:nvSpPr>
        <p:spPr>
          <a:xfrm>
            <a:off x="4041775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矩形: 剪去对角 1151"/>
          <p:cNvSpPr/>
          <p:nvPr/>
        </p:nvSpPr>
        <p:spPr>
          <a:xfrm>
            <a:off x="4043045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矩形: 剪去对角 1151"/>
          <p:cNvSpPr/>
          <p:nvPr/>
        </p:nvSpPr>
        <p:spPr>
          <a:xfrm>
            <a:off x="4043045" y="549402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矩形: 剪去对角 1518"/>
          <p:cNvSpPr/>
          <p:nvPr/>
        </p:nvSpPr>
        <p:spPr>
          <a:xfrm>
            <a:off x="5476240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27" name="矩形: 剪去对角 1533"/>
          <p:cNvSpPr/>
          <p:nvPr/>
        </p:nvSpPr>
        <p:spPr>
          <a:xfrm>
            <a:off x="5476240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30" name="矩形: 剪去对角 1534"/>
          <p:cNvSpPr/>
          <p:nvPr/>
        </p:nvSpPr>
        <p:spPr>
          <a:xfrm>
            <a:off x="5476240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33" name="矩形: 剪去对角 1151"/>
          <p:cNvSpPr/>
          <p:nvPr/>
        </p:nvSpPr>
        <p:spPr>
          <a:xfrm>
            <a:off x="5476240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36" name="矩形: 剪去对角 1151"/>
          <p:cNvSpPr/>
          <p:nvPr/>
        </p:nvSpPr>
        <p:spPr>
          <a:xfrm>
            <a:off x="5476240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39" name="矩形: 剪去对角 1151"/>
          <p:cNvSpPr/>
          <p:nvPr/>
        </p:nvSpPr>
        <p:spPr>
          <a:xfrm>
            <a:off x="5476240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42" name="矩形: 剪去对角 1151"/>
          <p:cNvSpPr/>
          <p:nvPr/>
        </p:nvSpPr>
        <p:spPr>
          <a:xfrm>
            <a:off x="5476240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46" name="矩形: 剪去对角 1518"/>
          <p:cNvSpPr/>
          <p:nvPr/>
        </p:nvSpPr>
        <p:spPr>
          <a:xfrm>
            <a:off x="6909435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62" name="矩形: 剪去对角 1533"/>
          <p:cNvSpPr/>
          <p:nvPr/>
        </p:nvSpPr>
        <p:spPr>
          <a:xfrm>
            <a:off x="6909435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65" name="矩形: 剪去对角 1534"/>
          <p:cNvSpPr/>
          <p:nvPr/>
        </p:nvSpPr>
        <p:spPr>
          <a:xfrm>
            <a:off x="6909435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68" name="矩形: 剪去对角 1151"/>
          <p:cNvSpPr/>
          <p:nvPr/>
        </p:nvSpPr>
        <p:spPr>
          <a:xfrm>
            <a:off x="6909435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71" name="矩形: 剪去对角 1151"/>
          <p:cNvSpPr/>
          <p:nvPr/>
        </p:nvSpPr>
        <p:spPr>
          <a:xfrm>
            <a:off x="6909435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74" name="矩形: 剪去对角 1151"/>
          <p:cNvSpPr/>
          <p:nvPr/>
        </p:nvSpPr>
        <p:spPr>
          <a:xfrm>
            <a:off x="6909435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77" name="矩形: 剪去对角 1151"/>
          <p:cNvSpPr/>
          <p:nvPr/>
        </p:nvSpPr>
        <p:spPr>
          <a:xfrm>
            <a:off x="6909435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81" name="矩形: 剪去对角 1518"/>
          <p:cNvSpPr/>
          <p:nvPr/>
        </p:nvSpPr>
        <p:spPr>
          <a:xfrm>
            <a:off x="8342630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197" name="矩形: 剪去对角 1533"/>
          <p:cNvSpPr/>
          <p:nvPr/>
        </p:nvSpPr>
        <p:spPr>
          <a:xfrm>
            <a:off x="8342630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矩形: 剪去对角 1534"/>
          <p:cNvSpPr/>
          <p:nvPr/>
        </p:nvSpPr>
        <p:spPr>
          <a:xfrm>
            <a:off x="8342630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03" name="矩形: 剪去对角 1151"/>
          <p:cNvSpPr/>
          <p:nvPr/>
        </p:nvSpPr>
        <p:spPr>
          <a:xfrm>
            <a:off x="8342630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06" name="矩形: 剪去对角 1151"/>
          <p:cNvSpPr/>
          <p:nvPr/>
        </p:nvSpPr>
        <p:spPr>
          <a:xfrm>
            <a:off x="8342630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09" name="矩形: 剪去对角 1151"/>
          <p:cNvSpPr/>
          <p:nvPr/>
        </p:nvSpPr>
        <p:spPr>
          <a:xfrm>
            <a:off x="8342630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12" name="矩形: 剪去对角 1151"/>
          <p:cNvSpPr/>
          <p:nvPr/>
        </p:nvSpPr>
        <p:spPr>
          <a:xfrm>
            <a:off x="8342630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16" name="矩形: 剪去对角 1518"/>
          <p:cNvSpPr/>
          <p:nvPr/>
        </p:nvSpPr>
        <p:spPr>
          <a:xfrm>
            <a:off x="9775825" y="192151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32" name="矩形: 剪去对角 1533"/>
          <p:cNvSpPr/>
          <p:nvPr/>
        </p:nvSpPr>
        <p:spPr>
          <a:xfrm>
            <a:off x="9775825" y="251650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35" name="矩形: 剪去对角 1534"/>
          <p:cNvSpPr/>
          <p:nvPr/>
        </p:nvSpPr>
        <p:spPr>
          <a:xfrm>
            <a:off x="9775825" y="311150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38" name="矩形: 剪去对角 1151"/>
          <p:cNvSpPr/>
          <p:nvPr/>
        </p:nvSpPr>
        <p:spPr>
          <a:xfrm>
            <a:off x="9775825" y="370586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41" name="矩形: 剪去对角 1151"/>
          <p:cNvSpPr/>
          <p:nvPr/>
        </p:nvSpPr>
        <p:spPr>
          <a:xfrm>
            <a:off x="9775825" y="430085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44" name="矩形: 剪去对角 1151"/>
          <p:cNvSpPr/>
          <p:nvPr/>
        </p:nvSpPr>
        <p:spPr>
          <a:xfrm>
            <a:off x="9775825" y="4895850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sp>
        <p:nvSpPr>
          <p:cNvPr id="247" name="矩形: 剪去对角 1151"/>
          <p:cNvSpPr/>
          <p:nvPr/>
        </p:nvSpPr>
        <p:spPr>
          <a:xfrm>
            <a:off x="9775825" y="5490845"/>
            <a:ext cx="1241425" cy="473710"/>
          </a:xfrm>
          <a:prstGeom prst="snip2DiagRect">
            <a:avLst>
              <a:gd name="adj1" fmla="val 0"/>
              <a:gd name="adj2" fmla="val 473"/>
            </a:avLst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charset="-122"/>
              <a:sym typeface="+mn-ea"/>
            </a:endParaRPr>
          </a:p>
        </p:txBody>
      </p:sp>
      <p:pic>
        <p:nvPicPr>
          <p:cNvPr id="249" name="图片 248" descr="国药集团"/>
          <p:cNvPicPr>
            <a:picLocks noChangeAspect="1"/>
          </p:cNvPicPr>
          <p:nvPr/>
        </p:nvPicPr>
        <p:blipFill>
          <a:blip r:embed="rId1"/>
          <a:srcRect b="27560"/>
          <a:stretch>
            <a:fillRect/>
          </a:stretch>
        </p:blipFill>
        <p:spPr>
          <a:xfrm>
            <a:off x="1311275" y="1999615"/>
            <a:ext cx="972185" cy="318135"/>
          </a:xfrm>
          <a:prstGeom prst="rect">
            <a:avLst/>
          </a:prstGeom>
        </p:spPr>
      </p:pic>
      <p:pic>
        <p:nvPicPr>
          <p:cNvPr id="250" name="图片 249" descr="华润三九医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810" y="2000250"/>
            <a:ext cx="612140" cy="328295"/>
          </a:xfrm>
          <a:prstGeom prst="rect">
            <a:avLst/>
          </a:prstGeom>
        </p:spPr>
      </p:pic>
      <p:pic>
        <p:nvPicPr>
          <p:cNvPr id="252" name="图片 251" descr="北京同仁堂-1"/>
          <p:cNvPicPr>
            <a:picLocks noChangeAspect="1"/>
          </p:cNvPicPr>
          <p:nvPr/>
        </p:nvPicPr>
        <p:blipFill>
          <a:blip r:embed="rId3"/>
          <a:srcRect l="2426" t="32910" r="7041" b="28113"/>
          <a:stretch>
            <a:fillRect/>
          </a:stretch>
        </p:blipFill>
        <p:spPr>
          <a:xfrm>
            <a:off x="4217670" y="2011045"/>
            <a:ext cx="899795" cy="295275"/>
          </a:xfrm>
          <a:prstGeom prst="rect">
            <a:avLst/>
          </a:prstGeom>
        </p:spPr>
      </p:pic>
      <p:grpSp>
        <p:nvGrpSpPr>
          <p:cNvPr id="319" name="组合 318"/>
          <p:cNvGrpSpPr>
            <a:grpSpLocks noChangeAspect="1"/>
          </p:cNvGrpSpPr>
          <p:nvPr/>
        </p:nvGrpSpPr>
        <p:grpSpPr>
          <a:xfrm rot="0">
            <a:off x="5593080" y="2047875"/>
            <a:ext cx="1007745" cy="220980"/>
            <a:chOff x="8791" y="3221"/>
            <a:chExt cx="1571" cy="344"/>
          </a:xfrm>
        </p:grpSpPr>
        <p:pic>
          <p:nvPicPr>
            <p:cNvPr id="255" name="图片 254" descr="白云山"/>
            <p:cNvPicPr>
              <a:picLocks noChangeAspect="1"/>
            </p:cNvPicPr>
            <p:nvPr/>
          </p:nvPicPr>
          <p:blipFill>
            <a:blip r:embed="rId4"/>
            <a:srcRect b="29579"/>
            <a:stretch>
              <a:fillRect/>
            </a:stretch>
          </p:blipFill>
          <p:spPr>
            <a:xfrm>
              <a:off x="8791" y="3221"/>
              <a:ext cx="521" cy="344"/>
            </a:xfrm>
            <a:prstGeom prst="rect">
              <a:avLst/>
            </a:prstGeom>
          </p:spPr>
        </p:pic>
        <p:pic>
          <p:nvPicPr>
            <p:cNvPr id="254" name="图片 253" descr="白云山"/>
            <p:cNvPicPr>
              <a:picLocks noChangeAspect="1"/>
            </p:cNvPicPr>
            <p:nvPr/>
          </p:nvPicPr>
          <p:blipFill>
            <a:blip r:embed="rId4"/>
            <a:srcRect t="79396"/>
            <a:stretch>
              <a:fillRect/>
            </a:stretch>
          </p:blipFill>
          <p:spPr>
            <a:xfrm>
              <a:off x="9256" y="3286"/>
              <a:ext cx="1106" cy="214"/>
            </a:xfrm>
            <a:prstGeom prst="rect">
              <a:avLst/>
            </a:prstGeom>
          </p:spPr>
        </p:pic>
      </p:grpSp>
      <p:pic>
        <p:nvPicPr>
          <p:cNvPr id="256" name="图片 255" descr="江苏恒瑞医药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955" y="1991995"/>
            <a:ext cx="539750" cy="332740"/>
          </a:xfrm>
          <a:prstGeom prst="rect">
            <a:avLst/>
          </a:prstGeom>
        </p:spPr>
      </p:pic>
      <p:pic>
        <p:nvPicPr>
          <p:cNvPr id="257" name="图片 256" descr="正大天晴药业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445" y="2045970"/>
            <a:ext cx="899795" cy="225425"/>
          </a:xfrm>
          <a:prstGeom prst="rect">
            <a:avLst/>
          </a:prstGeom>
        </p:spPr>
      </p:pic>
      <p:pic>
        <p:nvPicPr>
          <p:cNvPr id="258" name="图片 257" descr="07_扬子江药业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0445" y="2039620"/>
            <a:ext cx="972185" cy="238125"/>
          </a:xfrm>
          <a:prstGeom prst="rect">
            <a:avLst/>
          </a:prstGeom>
        </p:spPr>
      </p:pic>
      <p:pic>
        <p:nvPicPr>
          <p:cNvPr id="261" name="图片 260" descr="上药集团"/>
          <p:cNvPicPr>
            <a:picLocks noChangeAspect="1"/>
          </p:cNvPicPr>
          <p:nvPr/>
        </p:nvPicPr>
        <p:blipFill>
          <a:blip r:embed="rId8"/>
          <a:srcRect l="15274" t="32463" r="13910" b="32435"/>
          <a:stretch>
            <a:fillRect/>
          </a:stretch>
        </p:blipFill>
        <p:spPr>
          <a:xfrm>
            <a:off x="2852420" y="2618105"/>
            <a:ext cx="756285" cy="270510"/>
          </a:xfrm>
          <a:prstGeom prst="rect">
            <a:avLst/>
          </a:prstGeom>
        </p:spPr>
      </p:pic>
      <p:pic>
        <p:nvPicPr>
          <p:cNvPr id="262" name="图片 261" descr="远大制药"/>
          <p:cNvPicPr>
            <a:picLocks noChangeAspect="1"/>
          </p:cNvPicPr>
          <p:nvPr/>
        </p:nvPicPr>
        <p:blipFill>
          <a:blip r:embed="rId9"/>
          <a:srcRect t="35078" b="34117"/>
          <a:stretch>
            <a:fillRect/>
          </a:stretch>
        </p:blipFill>
        <p:spPr>
          <a:xfrm>
            <a:off x="4195445" y="2656840"/>
            <a:ext cx="935990" cy="192405"/>
          </a:xfrm>
          <a:prstGeom prst="rect">
            <a:avLst/>
          </a:prstGeom>
        </p:spPr>
      </p:pic>
      <p:pic>
        <p:nvPicPr>
          <p:cNvPr id="264" name="图片 263" descr="拜耳医药"/>
          <p:cNvPicPr>
            <a:picLocks noChangeAspect="1"/>
          </p:cNvPicPr>
          <p:nvPr/>
        </p:nvPicPr>
        <p:blipFill>
          <a:blip r:embed="rId10"/>
          <a:srcRect t="26529" b="28950"/>
          <a:stretch>
            <a:fillRect/>
          </a:stretch>
        </p:blipFill>
        <p:spPr>
          <a:xfrm>
            <a:off x="5683250" y="2614930"/>
            <a:ext cx="828040" cy="276860"/>
          </a:xfrm>
          <a:prstGeom prst="rect">
            <a:avLst/>
          </a:prstGeom>
        </p:spPr>
      </p:pic>
      <p:pic>
        <p:nvPicPr>
          <p:cNvPr id="265" name="图片 264" descr="大冢制药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2645" y="2591435"/>
            <a:ext cx="675005" cy="323850"/>
          </a:xfrm>
          <a:prstGeom prst="rect">
            <a:avLst/>
          </a:prstGeom>
        </p:spPr>
      </p:pic>
      <p:pic>
        <p:nvPicPr>
          <p:cNvPr id="266" name="图片 265" descr="药明康得药业"/>
          <p:cNvPicPr>
            <a:picLocks noChangeAspect="1"/>
          </p:cNvPicPr>
          <p:nvPr/>
        </p:nvPicPr>
        <p:blipFill>
          <a:blip r:embed="rId12"/>
          <a:srcRect l="9778" t="26617" r="10049" b="28321"/>
          <a:stretch>
            <a:fillRect/>
          </a:stretch>
        </p:blipFill>
        <p:spPr>
          <a:xfrm>
            <a:off x="8513445" y="2611120"/>
            <a:ext cx="899795" cy="285115"/>
          </a:xfrm>
          <a:prstGeom prst="rect">
            <a:avLst/>
          </a:prstGeom>
        </p:spPr>
      </p:pic>
      <p:pic>
        <p:nvPicPr>
          <p:cNvPr id="267" name="图片 266" descr="强生制药"/>
          <p:cNvPicPr>
            <a:picLocks noChangeAspect="1"/>
          </p:cNvPicPr>
          <p:nvPr/>
        </p:nvPicPr>
        <p:blipFill>
          <a:blip r:embed="rId13"/>
          <a:srcRect l="4852" t="17246" r="4315" b="22047"/>
          <a:stretch>
            <a:fillRect/>
          </a:stretch>
        </p:blipFill>
        <p:spPr>
          <a:xfrm>
            <a:off x="10054590" y="2599690"/>
            <a:ext cx="683895" cy="306705"/>
          </a:xfrm>
          <a:prstGeom prst="rect">
            <a:avLst/>
          </a:prstGeom>
        </p:spPr>
      </p:pic>
      <p:pic>
        <p:nvPicPr>
          <p:cNvPr id="270" name="图片 26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7470" y="3211830"/>
            <a:ext cx="899795" cy="272415"/>
          </a:xfrm>
          <a:prstGeom prst="rect">
            <a:avLst/>
          </a:prstGeom>
        </p:spPr>
      </p:pic>
      <p:pic>
        <p:nvPicPr>
          <p:cNvPr id="271" name="图片 270" descr="齐鲁制药"/>
          <p:cNvPicPr>
            <a:picLocks noChangeAspect="1"/>
          </p:cNvPicPr>
          <p:nvPr/>
        </p:nvPicPr>
        <p:blipFill>
          <a:blip r:embed="rId15"/>
          <a:srcRect l="14572" t="40856" r="15995" b="40787"/>
          <a:stretch>
            <a:fillRect/>
          </a:stretch>
        </p:blipFill>
        <p:spPr>
          <a:xfrm>
            <a:off x="2780665" y="3229610"/>
            <a:ext cx="899795" cy="238125"/>
          </a:xfrm>
          <a:prstGeom prst="rect">
            <a:avLst/>
          </a:prstGeom>
        </p:spPr>
      </p:pic>
      <p:pic>
        <p:nvPicPr>
          <p:cNvPr id="272" name="图片 271" descr="17_悦康药业集团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3860" y="3194685"/>
            <a:ext cx="899795" cy="307340"/>
          </a:xfrm>
          <a:prstGeom prst="rect">
            <a:avLst/>
          </a:prstGeom>
        </p:spPr>
      </p:pic>
      <p:grpSp>
        <p:nvGrpSpPr>
          <p:cNvPr id="327" name="组合 326"/>
          <p:cNvGrpSpPr>
            <a:grpSpLocks noChangeAspect="1"/>
          </p:cNvGrpSpPr>
          <p:nvPr/>
        </p:nvGrpSpPr>
        <p:grpSpPr>
          <a:xfrm rot="0">
            <a:off x="5610860" y="3211830"/>
            <a:ext cx="972185" cy="273050"/>
            <a:chOff x="8791" y="5054"/>
            <a:chExt cx="1710" cy="480"/>
          </a:xfrm>
        </p:grpSpPr>
        <p:pic>
          <p:nvPicPr>
            <p:cNvPr id="273" name="图片 272"/>
            <p:cNvPicPr>
              <a:picLocks noChangeAspect="1"/>
            </p:cNvPicPr>
            <p:nvPr/>
          </p:nvPicPr>
          <p:blipFill>
            <a:blip r:embed="rId17"/>
            <a:srcRect b="21326"/>
            <a:stretch>
              <a:fillRect/>
            </a:stretch>
          </p:blipFill>
          <p:spPr>
            <a:xfrm>
              <a:off x="8791" y="5054"/>
              <a:ext cx="555" cy="481"/>
            </a:xfrm>
            <a:prstGeom prst="rect">
              <a:avLst/>
            </a:prstGeom>
          </p:spPr>
        </p:pic>
        <p:pic>
          <p:nvPicPr>
            <p:cNvPr id="274" name="图片 273"/>
            <p:cNvPicPr>
              <a:picLocks noChangeAspect="1"/>
            </p:cNvPicPr>
            <p:nvPr/>
          </p:nvPicPr>
          <p:blipFill>
            <a:blip r:embed="rId17"/>
            <a:srcRect t="80784"/>
            <a:stretch>
              <a:fillRect/>
            </a:stretch>
          </p:blipFill>
          <p:spPr>
            <a:xfrm>
              <a:off x="9297" y="5167"/>
              <a:ext cx="1205" cy="255"/>
            </a:xfrm>
            <a:prstGeom prst="rect">
              <a:avLst/>
            </a:prstGeom>
          </p:spPr>
        </p:pic>
      </p:grpSp>
      <p:pic>
        <p:nvPicPr>
          <p:cNvPr id="275" name="图片 274" descr="19_以岭药业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0250" y="3247390"/>
            <a:ext cx="899795" cy="201930"/>
          </a:xfrm>
          <a:prstGeom prst="rect">
            <a:avLst/>
          </a:prstGeom>
        </p:spPr>
      </p:pic>
      <p:pic>
        <p:nvPicPr>
          <p:cNvPr id="276" name="图片 275" descr="20_石药集团"/>
          <p:cNvPicPr>
            <a:picLocks noChangeAspect="1"/>
          </p:cNvPicPr>
          <p:nvPr/>
        </p:nvPicPr>
        <p:blipFill>
          <a:blip r:embed="rId19"/>
          <a:srcRect l="6481" t="31850" r="8335" b="26739"/>
          <a:stretch>
            <a:fillRect/>
          </a:stretch>
        </p:blipFill>
        <p:spPr>
          <a:xfrm>
            <a:off x="8513445" y="3241040"/>
            <a:ext cx="899795" cy="213995"/>
          </a:xfrm>
          <a:prstGeom prst="rect">
            <a:avLst/>
          </a:prstGeom>
        </p:spPr>
      </p:pic>
      <p:pic>
        <p:nvPicPr>
          <p:cNvPr id="277" name="图片 276" descr="21_信立泰药业"/>
          <p:cNvPicPr>
            <a:picLocks noChangeAspect="1"/>
          </p:cNvPicPr>
          <p:nvPr/>
        </p:nvPicPr>
        <p:blipFill>
          <a:blip r:embed="rId20"/>
          <a:srcRect l="5796" t="23839" r="11722" b="16529"/>
          <a:stretch>
            <a:fillRect/>
          </a:stretch>
        </p:blipFill>
        <p:spPr>
          <a:xfrm>
            <a:off x="10018395" y="3207385"/>
            <a:ext cx="756285" cy="281940"/>
          </a:xfrm>
          <a:prstGeom prst="rect">
            <a:avLst/>
          </a:prstGeom>
        </p:spPr>
      </p:pic>
      <p:pic>
        <p:nvPicPr>
          <p:cNvPr id="278" name="图片 277" descr="22_丽珠制药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383665" y="3785235"/>
            <a:ext cx="828040" cy="314960"/>
          </a:xfrm>
          <a:prstGeom prst="rect">
            <a:avLst/>
          </a:prstGeom>
        </p:spPr>
      </p:pic>
      <p:pic>
        <p:nvPicPr>
          <p:cNvPr id="279" name="图片 278" descr="23_片仔癀药业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52420" y="3809365"/>
            <a:ext cx="756285" cy="267335"/>
          </a:xfrm>
          <a:prstGeom prst="rect">
            <a:avLst/>
          </a:prstGeom>
        </p:spPr>
      </p:pic>
      <p:pic>
        <p:nvPicPr>
          <p:cNvPr id="280" name="图片 279" descr="24_江苏豪森药业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>
          <a:xfrm>
            <a:off x="4213860" y="3796665"/>
            <a:ext cx="899795" cy="291465"/>
          </a:xfrm>
          <a:prstGeom prst="rect">
            <a:avLst/>
          </a:prstGeom>
        </p:spPr>
      </p:pic>
      <p:pic>
        <p:nvPicPr>
          <p:cNvPr id="281" name="图片 280" descr="25_济川药业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647055" y="3825240"/>
            <a:ext cx="899795" cy="234315"/>
          </a:xfrm>
          <a:prstGeom prst="rect">
            <a:avLst/>
          </a:prstGeom>
        </p:spPr>
      </p:pic>
      <p:pic>
        <p:nvPicPr>
          <p:cNvPr id="285" name="图片 284" descr="28_康恩贝制药"/>
          <p:cNvPicPr>
            <a:picLocks noChangeAspect="1"/>
          </p:cNvPicPr>
          <p:nvPr/>
        </p:nvPicPr>
        <p:blipFill>
          <a:blip r:embed="rId26"/>
          <a:srcRect t="18680" b="15567"/>
          <a:stretch>
            <a:fillRect/>
          </a:stretch>
        </p:blipFill>
        <p:spPr>
          <a:xfrm>
            <a:off x="10054590" y="3802380"/>
            <a:ext cx="683895" cy="281305"/>
          </a:xfrm>
          <a:prstGeom prst="rect">
            <a:avLst/>
          </a:prstGeom>
        </p:spPr>
      </p:pic>
      <p:pic>
        <p:nvPicPr>
          <p:cNvPr id="286" name="图形 1153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13445" y="3834765"/>
            <a:ext cx="899795" cy="215265"/>
          </a:xfrm>
          <a:prstGeom prst="rect">
            <a:avLst/>
          </a:prstGeom>
        </p:spPr>
      </p:pic>
      <p:pic>
        <p:nvPicPr>
          <p:cNvPr id="287" name="图片 286" descr="29_莎普爱思药业"/>
          <p:cNvPicPr>
            <a:picLocks noChangeAspect="1"/>
          </p:cNvPicPr>
          <p:nvPr/>
        </p:nvPicPr>
        <p:blipFill>
          <a:blip r:embed="rId29"/>
          <a:srcRect l="9196" t="26852" r="9683" b="31526"/>
          <a:stretch>
            <a:fillRect/>
          </a:stretch>
        </p:blipFill>
        <p:spPr>
          <a:xfrm>
            <a:off x="1347470" y="4378325"/>
            <a:ext cx="899795" cy="319405"/>
          </a:xfrm>
          <a:prstGeom prst="rect">
            <a:avLst/>
          </a:prstGeom>
        </p:spPr>
      </p:pic>
      <p:pic>
        <p:nvPicPr>
          <p:cNvPr id="288" name="图片 287" descr="30_华海药业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98445" y="4434840"/>
            <a:ext cx="864235" cy="205105"/>
          </a:xfrm>
          <a:prstGeom prst="rect">
            <a:avLst/>
          </a:prstGeom>
        </p:spPr>
      </p:pic>
      <p:pic>
        <p:nvPicPr>
          <p:cNvPr id="289" name="图片 288" descr="31_普洛药业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11955" y="4461510"/>
            <a:ext cx="899795" cy="153035"/>
          </a:xfrm>
          <a:prstGeom prst="rect">
            <a:avLst/>
          </a:prstGeom>
        </p:spPr>
      </p:pic>
      <p:pic>
        <p:nvPicPr>
          <p:cNvPr id="290" name="图片 289" descr="32_鲁南制药"/>
          <p:cNvPicPr>
            <a:picLocks noChangeAspect="1"/>
          </p:cNvPicPr>
          <p:nvPr/>
        </p:nvPicPr>
        <p:blipFill>
          <a:blip r:embed="rId32"/>
          <a:srcRect t="23751" b="20635"/>
          <a:stretch>
            <a:fillRect/>
          </a:stretch>
        </p:blipFill>
        <p:spPr>
          <a:xfrm>
            <a:off x="5755005" y="4347845"/>
            <a:ext cx="683895" cy="380365"/>
          </a:xfrm>
          <a:prstGeom prst="rect">
            <a:avLst/>
          </a:prstGeom>
        </p:spPr>
      </p:pic>
      <p:grpSp>
        <p:nvGrpSpPr>
          <p:cNvPr id="325" name="组合 324"/>
          <p:cNvGrpSpPr>
            <a:grpSpLocks noChangeAspect="1"/>
          </p:cNvGrpSpPr>
          <p:nvPr/>
        </p:nvGrpSpPr>
        <p:grpSpPr>
          <a:xfrm rot="0">
            <a:off x="7080250" y="4380230"/>
            <a:ext cx="899795" cy="314960"/>
            <a:chOff x="11134" y="6936"/>
            <a:chExt cx="1309" cy="458"/>
          </a:xfrm>
        </p:grpSpPr>
        <p:pic>
          <p:nvPicPr>
            <p:cNvPr id="291" name="图片 290" descr="新华制药"/>
            <p:cNvPicPr>
              <a:picLocks noChangeAspect="1"/>
            </p:cNvPicPr>
            <p:nvPr/>
          </p:nvPicPr>
          <p:blipFill>
            <a:blip r:embed="rId33"/>
            <a:srcRect l="38465" t="18054" r="37635" b="43542"/>
            <a:stretch>
              <a:fillRect/>
            </a:stretch>
          </p:blipFill>
          <p:spPr>
            <a:xfrm>
              <a:off x="11134" y="6936"/>
              <a:ext cx="427" cy="458"/>
            </a:xfrm>
            <a:prstGeom prst="rect">
              <a:avLst/>
            </a:prstGeom>
          </p:spPr>
        </p:pic>
        <p:pic>
          <p:nvPicPr>
            <p:cNvPr id="292" name="图片 291" descr="新华制药"/>
            <p:cNvPicPr>
              <a:picLocks noChangeAspect="1"/>
            </p:cNvPicPr>
            <p:nvPr/>
          </p:nvPicPr>
          <p:blipFill>
            <a:blip r:embed="rId33"/>
            <a:srcRect l="28663" t="55606" r="29007" b="15818"/>
            <a:stretch>
              <a:fillRect/>
            </a:stretch>
          </p:blipFill>
          <p:spPr>
            <a:xfrm>
              <a:off x="11561" y="6966"/>
              <a:ext cx="883" cy="398"/>
            </a:xfrm>
            <a:prstGeom prst="rect">
              <a:avLst/>
            </a:prstGeom>
          </p:spPr>
        </p:pic>
      </p:grpSp>
      <p:pic>
        <p:nvPicPr>
          <p:cNvPr id="294" name="图片 293" descr="34_鲁抗医药"/>
          <p:cNvPicPr>
            <a:picLocks noChangeAspect="1"/>
          </p:cNvPicPr>
          <p:nvPr/>
        </p:nvPicPr>
        <p:blipFill>
          <a:blip r:embed="rId34"/>
          <a:srcRect l="69233"/>
          <a:stretch>
            <a:fillRect/>
          </a:stretch>
        </p:blipFill>
        <p:spPr>
          <a:xfrm>
            <a:off x="8723630" y="4393565"/>
            <a:ext cx="478790" cy="288290"/>
          </a:xfrm>
          <a:prstGeom prst="rect">
            <a:avLst/>
          </a:prstGeom>
        </p:spPr>
      </p:pic>
      <p:pic>
        <p:nvPicPr>
          <p:cNvPr id="295" name="图片 294" descr="35_齐都药业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84715" y="4438650"/>
            <a:ext cx="1224280" cy="198120"/>
          </a:xfrm>
          <a:prstGeom prst="rect">
            <a:avLst/>
          </a:prstGeom>
        </p:spPr>
      </p:pic>
      <p:pic>
        <p:nvPicPr>
          <p:cNvPr id="297" name="图片 296" descr="37_云南白药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834640" y="4967605"/>
            <a:ext cx="791845" cy="330200"/>
          </a:xfrm>
          <a:prstGeom prst="rect">
            <a:avLst/>
          </a:prstGeom>
        </p:spPr>
      </p:pic>
      <p:pic>
        <p:nvPicPr>
          <p:cNvPr id="300" name="图片 299" descr="40_华兰生物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80250" y="5014595"/>
            <a:ext cx="899795" cy="235585"/>
          </a:xfrm>
          <a:prstGeom prst="rect">
            <a:avLst/>
          </a:prstGeom>
        </p:spPr>
      </p:pic>
      <p:pic>
        <p:nvPicPr>
          <p:cNvPr id="301" name="图片 300" descr="41_地奥集团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13445" y="4972050"/>
            <a:ext cx="899795" cy="320675"/>
          </a:xfrm>
          <a:prstGeom prst="rect">
            <a:avLst/>
          </a:prstGeom>
        </p:spPr>
      </p:pic>
      <p:pic>
        <p:nvPicPr>
          <p:cNvPr id="302" name="图片 301" descr="42_百利药业"/>
          <p:cNvPicPr>
            <a:picLocks noChangeAspect="1"/>
          </p:cNvPicPr>
          <p:nvPr/>
        </p:nvPicPr>
        <p:blipFill>
          <a:blip r:embed="rId39"/>
          <a:srcRect r="47869"/>
          <a:stretch>
            <a:fillRect/>
          </a:stretch>
        </p:blipFill>
        <p:spPr>
          <a:xfrm>
            <a:off x="9946640" y="5035550"/>
            <a:ext cx="899795" cy="193675"/>
          </a:xfrm>
          <a:prstGeom prst="rect">
            <a:avLst/>
          </a:prstGeom>
        </p:spPr>
      </p:pic>
      <p:pic>
        <p:nvPicPr>
          <p:cNvPr id="303" name="图片 302" descr="43_九典制药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65250" y="5600065"/>
            <a:ext cx="864235" cy="255270"/>
          </a:xfrm>
          <a:prstGeom prst="rect">
            <a:avLst/>
          </a:prstGeom>
        </p:spPr>
      </p:pic>
      <p:pic>
        <p:nvPicPr>
          <p:cNvPr id="304" name="图片 303" descr="44_千金药业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780665" y="5614035"/>
            <a:ext cx="899795" cy="227330"/>
          </a:xfrm>
          <a:prstGeom prst="rect">
            <a:avLst/>
          </a:prstGeom>
        </p:spPr>
      </p:pic>
      <p:pic>
        <p:nvPicPr>
          <p:cNvPr id="306" name="图片 305" descr="45_方盛制药"/>
          <p:cNvPicPr>
            <a:picLocks noChangeAspect="1"/>
          </p:cNvPicPr>
          <p:nvPr/>
        </p:nvPicPr>
        <p:blipFill>
          <a:blip r:embed="rId42"/>
          <a:srcRect l="13641" t="35873" r="13500" b="32981"/>
          <a:stretch>
            <a:fillRect/>
          </a:stretch>
        </p:blipFill>
        <p:spPr>
          <a:xfrm>
            <a:off x="4213860" y="5602605"/>
            <a:ext cx="899795" cy="256540"/>
          </a:xfrm>
          <a:prstGeom prst="rect">
            <a:avLst/>
          </a:prstGeom>
        </p:spPr>
      </p:pic>
      <p:pic>
        <p:nvPicPr>
          <p:cNvPr id="308" name="图片 307" descr="46_步长制药"/>
          <p:cNvPicPr>
            <a:picLocks noChangeAspect="1"/>
          </p:cNvPicPr>
          <p:nvPr/>
        </p:nvPicPr>
        <p:blipFill>
          <a:blip r:embed="rId43"/>
          <a:srcRect l="5253" t="14829" r="3834" b="19729"/>
          <a:stretch>
            <a:fillRect/>
          </a:stretch>
        </p:blipFill>
        <p:spPr>
          <a:xfrm>
            <a:off x="5647055" y="5610225"/>
            <a:ext cx="899795" cy="234950"/>
          </a:xfrm>
          <a:prstGeom prst="rect">
            <a:avLst/>
          </a:prstGeom>
        </p:spPr>
      </p:pic>
      <p:pic>
        <p:nvPicPr>
          <p:cNvPr id="309" name="图片 30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61835" y="5579110"/>
            <a:ext cx="935990" cy="297180"/>
          </a:xfrm>
          <a:prstGeom prst="rect">
            <a:avLst/>
          </a:prstGeom>
        </p:spPr>
      </p:pic>
      <p:pic>
        <p:nvPicPr>
          <p:cNvPr id="310" name="图片 309" descr="48_葵花药业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513445" y="5586095"/>
            <a:ext cx="899795" cy="282575"/>
          </a:xfrm>
          <a:prstGeom prst="rect">
            <a:avLst/>
          </a:prstGeom>
        </p:spPr>
      </p:pic>
      <p:pic>
        <p:nvPicPr>
          <p:cNvPr id="311" name="图片 310" descr="50_贵州百灵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946640" y="5582285"/>
            <a:ext cx="899795" cy="290195"/>
          </a:xfrm>
          <a:prstGeom prst="rect">
            <a:avLst/>
          </a:prstGeom>
        </p:spPr>
      </p:pic>
      <p:pic>
        <p:nvPicPr>
          <p:cNvPr id="318" name="图片 317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347470" y="2634615"/>
            <a:ext cx="899795" cy="237490"/>
          </a:xfrm>
          <a:prstGeom prst="rect">
            <a:avLst/>
          </a:prstGeom>
        </p:spPr>
      </p:pic>
      <p:grpSp>
        <p:nvGrpSpPr>
          <p:cNvPr id="323" name="组合 322"/>
          <p:cNvGrpSpPr>
            <a:grpSpLocks noChangeAspect="1"/>
          </p:cNvGrpSpPr>
          <p:nvPr/>
        </p:nvGrpSpPr>
        <p:grpSpPr>
          <a:xfrm rot="0">
            <a:off x="1347470" y="5026660"/>
            <a:ext cx="899795" cy="212090"/>
            <a:chOff x="2110" y="7932"/>
            <a:chExt cx="1441" cy="340"/>
          </a:xfrm>
        </p:grpSpPr>
        <p:pic>
          <p:nvPicPr>
            <p:cNvPr id="321" name="图片 320" descr="华中药业"/>
            <p:cNvPicPr>
              <a:picLocks noChangeAspect="1"/>
            </p:cNvPicPr>
            <p:nvPr/>
          </p:nvPicPr>
          <p:blipFill>
            <a:blip r:embed="rId48"/>
            <a:srcRect b="28270"/>
            <a:stretch>
              <a:fillRect/>
            </a:stretch>
          </p:blipFill>
          <p:spPr>
            <a:xfrm>
              <a:off x="2110" y="7932"/>
              <a:ext cx="510" cy="340"/>
            </a:xfrm>
            <a:prstGeom prst="rect">
              <a:avLst/>
            </a:prstGeom>
          </p:spPr>
        </p:pic>
        <p:pic>
          <p:nvPicPr>
            <p:cNvPr id="322" name="图片 321" descr="华中药业"/>
            <p:cNvPicPr>
              <a:picLocks noChangeAspect="1"/>
            </p:cNvPicPr>
            <p:nvPr/>
          </p:nvPicPr>
          <p:blipFill>
            <a:blip r:embed="rId48"/>
            <a:srcRect t="74248"/>
            <a:stretch>
              <a:fillRect/>
            </a:stretch>
          </p:blipFill>
          <p:spPr>
            <a:xfrm>
              <a:off x="2657" y="7995"/>
              <a:ext cx="895" cy="214"/>
            </a:xfrm>
            <a:prstGeom prst="rect">
              <a:avLst/>
            </a:prstGeom>
          </p:spPr>
        </p:pic>
      </p:grpSp>
      <p:pic>
        <p:nvPicPr>
          <p:cNvPr id="326" name="图片 32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80250" y="3834765"/>
            <a:ext cx="899795" cy="215900"/>
          </a:xfrm>
          <a:prstGeom prst="rect">
            <a:avLst/>
          </a:prstGeom>
        </p:spPr>
      </p:pic>
      <p:grpSp>
        <p:nvGrpSpPr>
          <p:cNvPr id="329" name="组合 328"/>
          <p:cNvGrpSpPr/>
          <p:nvPr/>
        </p:nvGrpSpPr>
        <p:grpSpPr>
          <a:xfrm rot="0">
            <a:off x="4238625" y="5013325"/>
            <a:ext cx="899795" cy="238760"/>
            <a:chOff x="6772" y="7906"/>
            <a:chExt cx="1358" cy="376"/>
          </a:xfrm>
        </p:grpSpPr>
        <p:pic>
          <p:nvPicPr>
            <p:cNvPr id="328" name="图片 327" descr="38_仲景宛西制药"/>
            <p:cNvPicPr>
              <a:picLocks noChangeAspect="1"/>
            </p:cNvPicPr>
            <p:nvPr/>
          </p:nvPicPr>
          <p:blipFill>
            <a:blip r:embed="rId50"/>
            <a:srcRect t="81132"/>
            <a:stretch>
              <a:fillRect/>
            </a:stretch>
          </p:blipFill>
          <p:spPr>
            <a:xfrm>
              <a:off x="7018" y="7978"/>
              <a:ext cx="1112" cy="210"/>
            </a:xfrm>
            <a:prstGeom prst="rect">
              <a:avLst/>
            </a:prstGeom>
          </p:spPr>
        </p:pic>
        <p:pic>
          <p:nvPicPr>
            <p:cNvPr id="298" name="图片 297" descr="38_仲景宛西制药"/>
            <p:cNvPicPr>
              <a:picLocks noChangeAspect="1"/>
            </p:cNvPicPr>
            <p:nvPr/>
          </p:nvPicPr>
          <p:blipFill>
            <a:blip r:embed="rId50"/>
            <a:srcRect l="13561" r="6014" b="18868"/>
            <a:stretch>
              <a:fillRect/>
            </a:stretch>
          </p:blipFill>
          <p:spPr>
            <a:xfrm>
              <a:off x="6772" y="7906"/>
              <a:ext cx="373" cy="377"/>
            </a:xfrm>
            <a:prstGeom prst="rect">
              <a:avLst/>
            </a:prstGeom>
          </p:spPr>
        </p:pic>
      </p:grpSp>
      <p:grpSp>
        <p:nvGrpSpPr>
          <p:cNvPr id="331" name="组合 330"/>
          <p:cNvGrpSpPr/>
          <p:nvPr/>
        </p:nvGrpSpPr>
        <p:grpSpPr>
          <a:xfrm rot="0">
            <a:off x="5679440" y="5017770"/>
            <a:ext cx="835660" cy="229870"/>
            <a:chOff x="8880" y="7853"/>
            <a:chExt cx="1316" cy="362"/>
          </a:xfrm>
        </p:grpSpPr>
        <p:pic>
          <p:nvPicPr>
            <p:cNvPr id="299" name="图片 298"/>
            <p:cNvPicPr>
              <a:picLocks noChangeAspect="1"/>
            </p:cNvPicPr>
            <p:nvPr/>
          </p:nvPicPr>
          <p:blipFill>
            <a:blip r:embed="rId51"/>
            <a:srcRect b="22445"/>
            <a:stretch>
              <a:fillRect/>
            </a:stretch>
          </p:blipFill>
          <p:spPr>
            <a:xfrm>
              <a:off x="8880" y="7853"/>
              <a:ext cx="374" cy="362"/>
            </a:xfrm>
            <a:prstGeom prst="rect">
              <a:avLst/>
            </a:prstGeom>
          </p:spPr>
        </p:pic>
        <p:pic>
          <p:nvPicPr>
            <p:cNvPr id="330" name="图片 329"/>
            <p:cNvPicPr>
              <a:picLocks noChangeAspect="1"/>
            </p:cNvPicPr>
            <p:nvPr/>
          </p:nvPicPr>
          <p:blipFill>
            <a:blip r:embed="rId51"/>
            <a:srcRect t="78603"/>
            <a:stretch>
              <a:fillRect/>
            </a:stretch>
          </p:blipFill>
          <p:spPr>
            <a:xfrm>
              <a:off x="9278" y="7912"/>
              <a:ext cx="918" cy="245"/>
            </a:xfrm>
            <a:prstGeom prst="rect">
              <a:avLst/>
            </a:prstGeom>
          </p:spPr>
        </p:pic>
      </p:grpSp>
    </p:spTree>
    <p:custDataLst>
      <p:tags r:id="rId5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2.29167E-6 0.25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2.29167E-6 0.25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48148E-6 L -2.29167E-6 0.25 " pathEditMode="relative" rAng="0" ptsTypes="AA">
                                      <p:cBhvr>
                                        <p:cTn id="23" dur="1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bldLvl="0" animBg="1"/>
      <p:bldP spid="11" grpId="0" bldLvl="0" animBg="1"/>
      <p:bldP spid="13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OPPO Sans</vt:lpstr>
      <vt:lpstr>Roboto Regular</vt:lpstr>
      <vt:lpstr>微软雅黑 Light</vt:lpstr>
      <vt:lpstr>Segoe Print</vt:lpstr>
      <vt:lpstr>WPS</vt:lpstr>
      <vt:lpstr>医药行业服务客户——1000+制药企业的共同选择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28283</dc:creator>
  <cp:lastModifiedBy>刘超</cp:lastModifiedBy>
  <cp:revision>157</cp:revision>
  <dcterms:created xsi:type="dcterms:W3CDTF">2019-06-19T02:08:00Z</dcterms:created>
  <dcterms:modified xsi:type="dcterms:W3CDTF">2026-09-14T06:13:50Z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8FDC7D0B1B704BE0B384E004E9467C95_11</vt:lpwstr>
  </property>
</Properties>
</file>